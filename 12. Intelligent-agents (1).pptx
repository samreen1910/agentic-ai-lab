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media/image1.jpeg" ContentType="image/jpeg"/>
  <Override PartName="/ppt/theme/theme2.xml" ContentType="application/vnd.openxmlformats-officedocument.theme+xml"/>
  <Override PartName="/ppt/notesSlides/notesSlide1.xml" ContentType="application/vnd.openxmlformats-officedocument.presentationml.notesSlide+xml"/>
  <Override PartName="/ppt/media/image2.jpeg" ContentType="image/jpeg"/>
  <Override PartName="/ppt/notesSlides/notesSlide2.xml" ContentType="application/vnd.openxmlformats-officedocument.presentationml.notesSlide+xml"/>
  <Override PartName="/ppt/media/image3.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4" name="Shape 34"/>
          <p:cNvSpPr/>
          <p:nvPr>
            <p:ph type="sldImg"/>
          </p:nvPr>
        </p:nvSpPr>
        <p:spPr>
          <a:xfrm>
            <a:off x="1143000" y="685800"/>
            <a:ext cx="4572000" cy="3429000"/>
          </a:xfrm>
          <a:prstGeom prst="rect">
            <a:avLst/>
          </a:prstGeom>
        </p:spPr>
        <p:txBody>
          <a:bodyPr/>
          <a:lstStyle/>
          <a:p>
            <a:pPr/>
          </a:p>
        </p:txBody>
      </p:sp>
      <p:sp>
        <p:nvSpPr>
          <p:cNvPr id="35" name="Shape 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 name="Shape 43"/>
          <p:cNvSpPr/>
          <p:nvPr>
            <p:ph type="sldImg"/>
          </p:nvPr>
        </p:nvSpPr>
        <p:spPr>
          <a:prstGeom prst="rect">
            <a:avLst/>
          </a:prstGeom>
        </p:spPr>
        <p:txBody>
          <a:bodyPr/>
          <a:lstStyle/>
          <a:p>
            <a:pPr/>
          </a:p>
        </p:txBody>
      </p:sp>
      <p:sp>
        <p:nvSpPr>
          <p:cNvPr id="44" name="Shape 44"/>
          <p:cNvSpPr/>
          <p:nvPr>
            <p:ph type="body" sz="quarter" idx="1"/>
          </p:nvPr>
        </p:nvSpPr>
        <p:spPr>
          <a:prstGeom prst="rect">
            <a:avLst/>
          </a:prstGeom>
        </p:spPr>
        <p:txBody>
          <a:bodyPr/>
          <a:lstStyle/>
          <a:p>
            <a:pPr/>
            <a:r>
              <a:t>This guide explains intelligent agents in plain language. The central idea is simple: an agent does not stop at an answer. It uses context, chooses a next step, acts through tools, and learns from what happens.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 name="Shape 52"/>
          <p:cNvSpPr/>
          <p:nvPr>
            <p:ph type="sldImg"/>
          </p:nvPr>
        </p:nvSpPr>
        <p:spPr>
          <a:prstGeom prst="rect">
            <a:avLst/>
          </a:prstGeom>
        </p:spPr>
        <p:txBody>
          <a:bodyPr/>
          <a:lstStyle/>
          <a:p>
            <a:pPr/>
          </a:p>
        </p:txBody>
      </p:sp>
      <p:sp>
        <p:nvSpPr>
          <p:cNvPr id="53" name="Shape 53"/>
          <p:cNvSpPr/>
          <p:nvPr>
            <p:ph type="body" sz="quarter" idx="1"/>
          </p:nvPr>
        </p:nvSpPr>
        <p:spPr>
          <a:prstGeom prst="rect">
            <a:avLst/>
          </a:prstGeom>
        </p:spPr>
        <p:txBody>
          <a:bodyPr/>
          <a:lstStyle/>
          <a:p>
            <a:pPr/>
            <a:r>
              <a:t>A chatbot gives you a response. Traditional automation follows a fixed path. An intelligent agent can decide what needs to happen next, use the right tool, and adjust when the situation changes.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Shape 88"/>
          <p:cNvSpPr/>
          <p:nvPr>
            <p:ph type="sldImg"/>
          </p:nvPr>
        </p:nvSpPr>
        <p:spPr>
          <a:prstGeom prst="rect">
            <a:avLst/>
          </a:prstGeom>
        </p:spPr>
        <p:txBody>
          <a:bodyPr/>
          <a:lstStyle/>
          <a:p>
            <a:pPr/>
          </a:p>
        </p:txBody>
      </p:sp>
      <p:sp>
        <p:nvSpPr>
          <p:cNvPr id="89" name="Shape 89"/>
          <p:cNvSpPr/>
          <p:nvPr>
            <p:ph type="body" sz="quarter" idx="1"/>
          </p:nvPr>
        </p:nvSpPr>
        <p:spPr>
          <a:prstGeom prst="rect">
            <a:avLst/>
          </a:prstGeom>
        </p:spPr>
        <p:txBody>
          <a:bodyPr/>
          <a:lstStyle/>
          <a:p>
            <a:pPr/>
            <a:r>
              <a:t>First, the agent builds a working picture from the goal, data, and context. Then it reasons about the next best step, acts through tools or APIs, and uses the result to update its context. That updated context informs the next turn of the loop.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Shape 115"/>
          <p:cNvSpPr/>
          <p:nvPr>
            <p:ph type="sldImg"/>
          </p:nvPr>
        </p:nvSpPr>
        <p:spPr>
          <a:prstGeom prst="rect">
            <a:avLst/>
          </a:prstGeom>
        </p:spPr>
        <p:txBody>
          <a:bodyPr/>
          <a:lstStyle/>
          <a:p>
            <a:pPr/>
          </a:p>
        </p:txBody>
      </p:sp>
      <p:sp>
        <p:nvSpPr>
          <p:cNvPr id="116" name="Shape 116"/>
          <p:cNvSpPr/>
          <p:nvPr>
            <p:ph type="body" sz="quarter" idx="1"/>
          </p:nvPr>
        </p:nvSpPr>
        <p:spPr>
          <a:prstGeom prst="rect">
            <a:avLst/>
          </a:prstGeom>
        </p:spPr>
        <p:txBody>
          <a:bodyPr/>
          <a:lstStyle/>
          <a:p>
            <a:pPr/>
            <a:r>
              <a:t>Grounding is what connects an agent to reality. Tools let it retrieve and change information. Guardrails define what it may do. Memory keeps the thread intact. Human oversight remains essential when the consequences are high.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Shape 140"/>
          <p:cNvSpPr/>
          <p:nvPr>
            <p:ph type="sldImg"/>
          </p:nvPr>
        </p:nvSpPr>
        <p:spPr>
          <a:prstGeom prst="rect">
            <a:avLst/>
          </a:prstGeom>
        </p:spPr>
        <p:txBody>
          <a:bodyPr/>
          <a:lstStyle/>
          <a:p>
            <a:pPr/>
          </a:p>
        </p:txBody>
      </p:sp>
      <p:sp>
        <p:nvSpPr>
          <p:cNvPr id="141" name="Shape 141"/>
          <p:cNvSpPr/>
          <p:nvPr>
            <p:ph type="body" sz="quarter" idx="1"/>
          </p:nvPr>
        </p:nvSpPr>
        <p:spPr>
          <a:prstGeom prst="rect">
            <a:avLst/>
          </a:prstGeom>
        </p:spPr>
        <p:txBody>
          <a:bodyPr/>
          <a:lstStyle/>
          <a:p>
            <a:pPr/>
            <a:r>
              <a:t>Start small. Pick a repetitive task where success is easy to recognize. Limit the agent's access, measure both performance and trust, and expand only when the results are reliable. The same loop that powers the agent should guide how autonomy grows.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master 1">
    <p:bg>
      <p:bgPr>
        <a:solidFill>
          <a:srgbClr val="E9F4FF"/>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2191696" cy="6858000"/>
          </a:xfrm>
          <a:prstGeom prst="rect">
            <a:avLst/>
          </a:prstGeom>
          <a:ln w="12700">
            <a:miter lim="400000"/>
          </a:ln>
        </p:spPr>
      </p:pic>
      <p:pic>
        <p:nvPicPr>
          <p:cNvPr id="19"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1076875" y="6558991"/>
            <a:ext cx="1071844" cy="256033"/>
          </a:xfrm>
          <a:prstGeom prst="rect">
            <a:avLst/>
          </a:prstGeom>
          <a:ln w="12700">
            <a:miter lim="400000"/>
          </a:ln>
        </p:spPr>
      </p:pic>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master 2">
    <p:bg>
      <p:bgPr>
        <a:solidFill>
          <a:srgbClr val="E9F4FF"/>
        </a:solidFill>
      </p:bgPr>
    </p:bg>
    <p:spTree>
      <p:nvGrpSpPr>
        <p:cNvPr id="1" name=""/>
        <p:cNvGrpSpPr/>
        <p:nvPr/>
      </p:nvGrpSpPr>
      <p:grpSpPr>
        <a:xfrm>
          <a:off x="0" y="0"/>
          <a:ext cx="0" cy="0"/>
          <a:chOff x="0" y="0"/>
          <a:chExt cx="0" cy="0"/>
        </a:xfrm>
      </p:grpSpPr>
      <p:pic>
        <p:nvPicPr>
          <p:cNvPr id="27" name="Image 0" descr="Image 0">
            <a:hlinkClick r:id="rId2" invalidUrl="" action="" tgtFrame="" tooltip="" history="1" highlightClick="0" endSnd="0"/>
          </p:cNvPr>
          <p:cNvPicPr>
            <a:picLocks noChangeAspect="1"/>
          </p:cNvPicPr>
          <p:nvPr/>
        </p:nvPicPr>
        <p:blipFill>
          <a:blip r:embed="rId3">
            <a:extLst/>
          </a:blip>
          <a:stretch>
            <a:fillRect/>
          </a:stretch>
        </p:blipFill>
        <p:spPr>
          <a:xfrm>
            <a:off x="11076875" y="6558991"/>
            <a:ext cx="1071844" cy="256033"/>
          </a:xfrm>
          <a:prstGeom prst="rect">
            <a:avLst/>
          </a:prstGeom>
          <a:ln w="12700">
            <a:miter lim="400000"/>
          </a:ln>
        </p:spPr>
      </p:pic>
      <p:sp>
        <p:nvSpPr>
          <p:cNvPr id="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3.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 name="Shape 0"/>
          <p:cNvSpPr/>
          <p:nvPr/>
        </p:nvSpPr>
        <p:spPr>
          <a:xfrm>
            <a:off x="685782" y="736600"/>
            <a:ext cx="5460865" cy="3429000"/>
          </a:xfrm>
          <a:prstGeom prst="roundRect">
            <a:avLst>
              <a:gd name="adj" fmla="val 6222"/>
            </a:avLst>
          </a:prstGeom>
          <a:solidFill>
            <a:srgbClr val="FFFFFF"/>
          </a:solidFill>
          <a:ln w="12700">
            <a:miter lim="400000"/>
          </a:ln>
        </p:spPr>
        <p:txBody>
          <a:bodyPr lIns="45719" rIns="45719"/>
          <a:lstStyle/>
          <a:p>
            <a:pPr/>
          </a:p>
        </p:txBody>
      </p:sp>
      <p:sp>
        <p:nvSpPr>
          <p:cNvPr id="38" name="Text 1"/>
          <p:cNvSpPr txBox="1"/>
          <p:nvPr/>
        </p:nvSpPr>
        <p:spPr>
          <a:xfrm>
            <a:off x="1092172" y="1100930"/>
            <a:ext cx="2029304"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04000"/>
              </a:lnSpc>
              <a:defRPr spc="66" sz="1100">
                <a:solidFill>
                  <a:srgbClr val="1E2A44"/>
                </a:solidFill>
                <a:latin typeface="Red Hat Mono Medium"/>
                <a:ea typeface="Red Hat Mono Medium"/>
                <a:cs typeface="Red Hat Mono Medium"/>
                <a:sym typeface="Red Hat Mono Medium"/>
              </a:defRPr>
            </a:lvl1pPr>
          </a:lstStyle>
          <a:p>
            <a:pPr/>
            <a:r>
              <a:t>A PLAIN-LANGUAGE GUIDE</a:t>
            </a:r>
          </a:p>
        </p:txBody>
      </p:sp>
      <p:sp>
        <p:nvSpPr>
          <p:cNvPr id="39" name="Text 2"/>
          <p:cNvSpPr txBox="1"/>
          <p:nvPr/>
        </p:nvSpPr>
        <p:spPr>
          <a:xfrm>
            <a:off x="1092172" y="1389301"/>
            <a:ext cx="4648086" cy="192018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68680">
              <a:lnSpc>
                <a:spcPct val="88000"/>
              </a:lnSpc>
              <a:defRPr spc="-95" sz="4560">
                <a:solidFill>
                  <a:srgbClr val="1E2A44"/>
                </a:solidFill>
                <a:latin typeface="Urbanist ExtraBold"/>
                <a:ea typeface="Urbanist ExtraBold"/>
                <a:cs typeface="Urbanist ExtraBold"/>
                <a:sym typeface="Urbanist ExtraBold"/>
              </a:defRPr>
            </a:lvl1pPr>
          </a:lstStyle>
          <a:p>
            <a:pPr/>
            <a:r>
              <a:t>Intelligent agents turn goals into action</a:t>
            </a:r>
          </a:p>
        </p:txBody>
      </p:sp>
      <p:pic>
        <p:nvPicPr>
          <p:cNvPr id="40" name="Image 0" descr="Image 0"/>
          <p:cNvPicPr>
            <a:picLocks noChangeAspect="1"/>
          </p:cNvPicPr>
          <p:nvPr/>
        </p:nvPicPr>
        <p:blipFill>
          <a:blip r:embed="rId3">
            <a:extLst/>
          </a:blip>
          <a:stretch>
            <a:fillRect/>
          </a:stretch>
        </p:blipFill>
        <p:spPr>
          <a:xfrm>
            <a:off x="1092172" y="3453705"/>
            <a:ext cx="4648086" cy="123826"/>
          </a:xfrm>
          <a:prstGeom prst="rect">
            <a:avLst/>
          </a:prstGeom>
          <a:ln w="12700">
            <a:miter lim="400000"/>
          </a:ln>
        </p:spPr>
      </p:pic>
      <p:sp>
        <p:nvSpPr>
          <p:cNvPr id="41" name="Text 3"/>
          <p:cNvSpPr txBox="1"/>
          <p:nvPr/>
        </p:nvSpPr>
        <p:spPr>
          <a:xfrm>
            <a:off x="1092172" y="3749933"/>
            <a:ext cx="2867522"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4A5670"/>
                </a:solidFill>
                <a:latin typeface="Figtree"/>
                <a:ea typeface="Figtree"/>
                <a:cs typeface="Figtree"/>
                <a:sym typeface="Figtree"/>
              </a:defRPr>
            </a:lvl1pPr>
          </a:lstStyle>
          <a:p>
            <a:pPr/>
            <a:r>
              <a:t>How they perceive, reason, act, and learn.</a:t>
            </a:r>
          </a:p>
        </p:txBody>
      </p:sp>
      <p:pic>
        <p:nvPicPr>
          <p:cNvPr id="42" name="pasted-movie.heic" descr="pasted-movie.heic"/>
          <p:cNvPicPr>
            <a:picLocks noChangeAspect="1"/>
          </p:cNvPicPr>
          <p:nvPr/>
        </p:nvPicPr>
        <p:blipFill>
          <a:blip r:embed="rId4">
            <a:extLst/>
          </a:blip>
          <a:stretch>
            <a:fillRect/>
          </a:stretch>
        </p:blipFill>
        <p:spPr>
          <a:xfrm>
            <a:off x="10642280" y="5666585"/>
            <a:ext cx="2156755" cy="1166609"/>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Text 0"/>
          <p:cNvSpPr txBox="1"/>
          <p:nvPr/>
        </p:nvSpPr>
        <p:spPr>
          <a:xfrm>
            <a:off x="609584" y="618331"/>
            <a:ext cx="809900"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04000"/>
              </a:lnSpc>
              <a:defRPr spc="66" sz="1100">
                <a:solidFill>
                  <a:srgbClr val="1E2A44"/>
                </a:solidFill>
                <a:latin typeface="Red Hat Mono Medium"/>
                <a:ea typeface="Red Hat Mono Medium"/>
                <a:cs typeface="Red Hat Mono Medium"/>
                <a:sym typeface="Red Hat Mono Medium"/>
              </a:defRPr>
            </a:lvl1pPr>
          </a:lstStyle>
          <a:p>
            <a:pPr/>
            <a:r>
              <a:t>THE SHIFT</a:t>
            </a:r>
          </a:p>
        </p:txBody>
      </p:sp>
      <p:sp>
        <p:nvSpPr>
          <p:cNvPr id="47" name="Text 1"/>
          <p:cNvSpPr txBox="1"/>
          <p:nvPr/>
        </p:nvSpPr>
        <p:spPr>
          <a:xfrm>
            <a:off x="609584" y="889000"/>
            <a:ext cx="6346350" cy="4572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8000"/>
              </a:lnSpc>
              <a:defRPr spc="-60" sz="3000">
                <a:solidFill>
                  <a:srgbClr val="1E2A44"/>
                </a:solidFill>
                <a:latin typeface="Urbanist ExtraBold"/>
                <a:ea typeface="Urbanist ExtraBold"/>
                <a:cs typeface="Urbanist ExtraBold"/>
                <a:sym typeface="Urbanist ExtraBold"/>
              </a:defRPr>
            </a:lvl1pPr>
          </a:lstStyle>
          <a:p>
            <a:pPr/>
            <a:r>
              <a:t>Agents do more than answer questions</a:t>
            </a:r>
          </a:p>
        </p:txBody>
      </p:sp>
      <p:sp>
        <p:nvSpPr>
          <p:cNvPr id="48" name="Text 2"/>
          <p:cNvSpPr txBox="1"/>
          <p:nvPr/>
        </p:nvSpPr>
        <p:spPr>
          <a:xfrm>
            <a:off x="609584" y="1450975"/>
            <a:ext cx="8399631"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Chatbots respond. Automation repeats fixed rules. Agents pursue an outcome across several steps.</a:t>
            </a:r>
          </a:p>
        </p:txBody>
      </p:sp>
      <p:graphicFrame>
        <p:nvGraphicFramePr>
          <p:cNvPr id="49" name="Table 0"/>
          <p:cNvGraphicFramePr/>
          <p:nvPr/>
        </p:nvGraphicFramePr>
        <p:xfrm>
          <a:off x="609584" y="1920875"/>
          <a:ext cx="10972527" cy="237484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72216"/>
                <a:gridCol w="2633370"/>
                <a:gridCol w="2633370"/>
                <a:gridCol w="2633569"/>
              </a:tblGrid>
              <a:tr h="476238">
                <a:tc>
                  <a:txBody>
                    <a:bodyPr/>
                    <a:lstStyle/>
                    <a:p>
                      <a:pPr algn="l">
                        <a:defRPr sz="1800"/>
                      </a:pPr>
                      <a:r>
                        <a:rPr sz="1500">
                          <a:solidFill>
                            <a:srgbClr val="1E2A44"/>
                          </a:solidFill>
                          <a:latin typeface="Figtree"/>
                          <a:ea typeface="Figtree"/>
                          <a:cs typeface="Figtree"/>
                          <a:sym typeface="Figtree"/>
                        </a:rPr>
                        <a:t>Capability</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Chatbot</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Automation</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FFFFFF"/>
                          </a:solidFill>
                          <a:latin typeface="Figtree"/>
                          <a:ea typeface="Figtree"/>
                          <a:cs typeface="Figtree"/>
                          <a:sym typeface="Figtree"/>
                        </a:rPr>
                        <a:t>Intelligent agent</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solidFill>
                      <a:srgbClr val="1E2A44"/>
                    </a:solidFill>
                  </a:tcPr>
                </a:tc>
              </a:tr>
              <a:tr h="476238">
                <a:tc>
                  <a:txBody>
                    <a:bodyPr/>
                    <a:lstStyle/>
                    <a:p>
                      <a:pPr algn="l">
                        <a:defRPr sz="1800"/>
                      </a:pPr>
                      <a:r>
                        <a:rPr sz="1500">
                          <a:solidFill>
                            <a:srgbClr val="1E2A44"/>
                          </a:solidFill>
                          <a:latin typeface="Figtree"/>
                          <a:ea typeface="Figtree"/>
                          <a:cs typeface="Figtree"/>
                          <a:sym typeface="Figtree"/>
                        </a:rPr>
                        <a:t>Responds to a prompt</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Yes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Sometimes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latin typeface="Figtree"/>
                          <a:ea typeface="Figtree"/>
                          <a:cs typeface="Figtree"/>
                          <a:sym typeface="Figtree"/>
                        </a:rPr>
                        <a:t>Yes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solidFill>
                      <a:srgbClr val="3FC89A"/>
                    </a:solidFill>
                  </a:tcPr>
                </a:tc>
              </a:tr>
              <a:tr h="476238">
                <a:tc>
                  <a:txBody>
                    <a:bodyPr/>
                    <a:lstStyle/>
                    <a:p>
                      <a:pPr algn="l">
                        <a:defRPr sz="1800"/>
                      </a:pPr>
                      <a:r>
                        <a:rPr sz="1500">
                          <a:solidFill>
                            <a:srgbClr val="1E2A44"/>
                          </a:solidFill>
                          <a:latin typeface="Figtree"/>
                          <a:ea typeface="Figtree"/>
                          <a:cs typeface="Figtree"/>
                          <a:sym typeface="Figtree"/>
                        </a:rPr>
                        <a:t>Plans multiple steps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No</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Fixed rules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latin typeface="Figtree"/>
                          <a:ea typeface="Figtree"/>
                          <a:cs typeface="Figtree"/>
                          <a:sym typeface="Figtree"/>
                        </a:rPr>
                        <a:t>Yes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solidFill>
                      <a:srgbClr val="3FC89A"/>
                    </a:solidFill>
                  </a:tcPr>
                </a:tc>
              </a:tr>
              <a:tr h="476238">
                <a:tc>
                  <a:txBody>
                    <a:bodyPr/>
                    <a:lstStyle/>
                    <a:p>
                      <a:pPr algn="l">
                        <a:defRPr sz="1800"/>
                      </a:pPr>
                      <a:r>
                        <a:rPr sz="1500">
                          <a:solidFill>
                            <a:srgbClr val="1E2A44"/>
                          </a:solidFill>
                          <a:latin typeface="Figtree"/>
                          <a:ea typeface="Figtree"/>
                          <a:cs typeface="Figtree"/>
                          <a:sym typeface="Figtree"/>
                        </a:rPr>
                        <a:t>Uses tools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Limited</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Predefined</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latin typeface="Figtree"/>
                          <a:ea typeface="Figtree"/>
                          <a:cs typeface="Figtree"/>
                          <a:sym typeface="Figtree"/>
                        </a:rPr>
                        <a:t>Dynamic</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solidFill>
                      <a:srgbClr val="3FC89A"/>
                    </a:solidFill>
                  </a:tcPr>
                </a:tc>
              </a:tr>
              <a:tr h="469888">
                <a:tc>
                  <a:txBody>
                    <a:bodyPr/>
                    <a:lstStyle/>
                    <a:p>
                      <a:pPr algn="l">
                        <a:defRPr sz="1800"/>
                      </a:pPr>
                      <a:r>
                        <a:rPr sz="1500">
                          <a:solidFill>
                            <a:srgbClr val="1E2A44"/>
                          </a:solidFill>
                          <a:latin typeface="Figtree"/>
                          <a:ea typeface="Figtree"/>
                          <a:cs typeface="Figtree"/>
                          <a:sym typeface="Figtree"/>
                        </a:rPr>
                        <a:t>Adapts to changing context</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Limited</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solidFill>
                            <a:srgbClr val="1E2A44"/>
                          </a:solidFill>
                          <a:latin typeface="Figtree"/>
                          <a:ea typeface="Figtree"/>
                          <a:cs typeface="Figtree"/>
                          <a:sym typeface="Figtree"/>
                        </a:rPr>
                        <a:t>No</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noFill/>
                  </a:tcPr>
                </a:tc>
                <a:tc>
                  <a:txBody>
                    <a:bodyPr/>
                    <a:lstStyle/>
                    <a:p>
                      <a:pPr algn="l">
                        <a:defRPr sz="1800"/>
                      </a:pPr>
                      <a:r>
                        <a:rPr sz="1500">
                          <a:latin typeface="Figtree"/>
                          <a:ea typeface="Figtree"/>
                          <a:cs typeface="Figtree"/>
                          <a:sym typeface="Figtree"/>
                        </a:rPr>
                        <a:t>Yes</a:t>
                      </a:r>
                    </a:p>
                  </a:txBody>
                  <a:tcPr marL="101598" marR="101598" marT="101598" marB="101598" anchor="ctr" anchorCtr="0" horzOverflow="overflow">
                    <a:lnL w="12700">
                      <a:solidFill>
                        <a:srgbClr val="C6DBF1"/>
                      </a:solidFill>
                    </a:lnL>
                    <a:lnR w="12700">
                      <a:solidFill>
                        <a:srgbClr val="C6DBF1"/>
                      </a:solidFill>
                    </a:lnR>
                    <a:lnT w="12700">
                      <a:solidFill>
                        <a:srgbClr val="C6DBF1"/>
                      </a:solidFill>
                    </a:lnT>
                    <a:lnB w="12700">
                      <a:solidFill>
                        <a:srgbClr val="C6DBF1"/>
                      </a:solidFill>
                    </a:lnB>
                    <a:solidFill>
                      <a:srgbClr val="3FC89A"/>
                    </a:solidFill>
                  </a:tcPr>
                </a:tc>
              </a:tr>
            </a:tbl>
          </a:graphicData>
        </a:graphic>
      </p:graphicFrame>
      <p:sp>
        <p:nvSpPr>
          <p:cNvPr id="50" name="Text 3"/>
          <p:cNvSpPr txBox="1"/>
          <p:nvPr/>
        </p:nvSpPr>
        <p:spPr>
          <a:xfrm>
            <a:off x="609584" y="4480878"/>
            <a:ext cx="2085505"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4A5670"/>
                </a:solidFill>
                <a:latin typeface="Figtree"/>
                <a:ea typeface="Figtree"/>
                <a:cs typeface="Figtree"/>
                <a:sym typeface="Figtree"/>
              </a:defRPr>
            </a:lvl1pPr>
          </a:lstStyle>
          <a:p>
            <a:pPr/>
            <a:r>
              <a:t>What makes an agent different</a:t>
            </a:r>
          </a:p>
        </p:txBody>
      </p:sp>
      <p:pic>
        <p:nvPicPr>
          <p:cNvPr id="51" name="pasted-movie.heic" descr="pasted-movie.heic"/>
          <p:cNvPicPr>
            <a:picLocks noChangeAspect="1"/>
          </p:cNvPicPr>
          <p:nvPr/>
        </p:nvPicPr>
        <p:blipFill>
          <a:blip r:embed="rId3">
            <a:extLst/>
          </a:blip>
          <a:stretch>
            <a:fillRect/>
          </a:stretch>
        </p:blipFill>
        <p:spPr>
          <a:xfrm>
            <a:off x="7947306" y="5571407"/>
            <a:ext cx="4158688" cy="1225547"/>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500">
        <p:cover di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 name="Text 0"/>
          <p:cNvSpPr txBox="1"/>
          <p:nvPr/>
        </p:nvSpPr>
        <p:spPr>
          <a:xfrm>
            <a:off x="609584" y="618331"/>
            <a:ext cx="786170"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04000"/>
              </a:lnSpc>
              <a:defRPr spc="66" sz="1100">
                <a:solidFill>
                  <a:srgbClr val="1E2A44"/>
                </a:solidFill>
                <a:latin typeface="Red Hat Mono Medium"/>
                <a:ea typeface="Red Hat Mono Medium"/>
                <a:cs typeface="Red Hat Mono Medium"/>
                <a:sym typeface="Red Hat Mono Medium"/>
              </a:defRPr>
            </a:lvl1pPr>
          </a:lstStyle>
          <a:p>
            <a:pPr/>
            <a:r>
              <a:t>THE LOOP</a:t>
            </a:r>
          </a:p>
        </p:txBody>
      </p:sp>
      <p:sp>
        <p:nvSpPr>
          <p:cNvPr id="56" name="Text 1"/>
          <p:cNvSpPr txBox="1"/>
          <p:nvPr/>
        </p:nvSpPr>
        <p:spPr>
          <a:xfrm>
            <a:off x="609584" y="889000"/>
            <a:ext cx="5415594" cy="4572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8000"/>
              </a:lnSpc>
              <a:defRPr spc="-60" sz="3000">
                <a:solidFill>
                  <a:srgbClr val="1E2A44"/>
                </a:solidFill>
                <a:latin typeface="Urbanist ExtraBold"/>
                <a:ea typeface="Urbanist ExtraBold"/>
                <a:cs typeface="Urbanist ExtraBold"/>
                <a:sym typeface="Urbanist ExtraBold"/>
              </a:defRPr>
            </a:lvl1pPr>
          </a:lstStyle>
          <a:p>
            <a:pPr/>
            <a:r>
              <a:t>Every agent follows a simple loop</a:t>
            </a:r>
          </a:p>
        </p:txBody>
      </p:sp>
      <p:sp>
        <p:nvSpPr>
          <p:cNvPr id="57" name="Text 2"/>
          <p:cNvSpPr txBox="1"/>
          <p:nvPr/>
        </p:nvSpPr>
        <p:spPr>
          <a:xfrm>
            <a:off x="609584" y="1450975"/>
            <a:ext cx="5582873"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The loop repeats until the goal is complete or a person takes over.</a:t>
            </a:r>
          </a:p>
        </p:txBody>
      </p:sp>
      <p:sp>
        <p:nvSpPr>
          <p:cNvPr id="58" name="Shape 3"/>
          <p:cNvSpPr/>
          <p:nvPr/>
        </p:nvSpPr>
        <p:spPr>
          <a:xfrm>
            <a:off x="609584" y="1895475"/>
            <a:ext cx="2514539" cy="3994845"/>
          </a:xfrm>
          <a:prstGeom prst="roundRect">
            <a:avLst>
              <a:gd name="adj" fmla="val 8485"/>
            </a:avLst>
          </a:prstGeom>
          <a:solidFill>
            <a:srgbClr val="FFFFFF"/>
          </a:solidFill>
          <a:ln w="12700">
            <a:miter lim="400000"/>
          </a:ln>
        </p:spPr>
        <p:txBody>
          <a:bodyPr lIns="45719" rIns="45719"/>
          <a:lstStyle/>
          <a:p>
            <a:pPr/>
          </a:p>
        </p:txBody>
      </p:sp>
      <p:sp>
        <p:nvSpPr>
          <p:cNvPr id="59" name="Shape 4"/>
          <p:cNvSpPr/>
          <p:nvPr/>
        </p:nvSpPr>
        <p:spPr>
          <a:xfrm>
            <a:off x="838178" y="2124075"/>
            <a:ext cx="355593" cy="355600"/>
          </a:xfrm>
          <a:prstGeom prst="ellipse">
            <a:avLst/>
          </a:prstGeom>
          <a:solidFill>
            <a:srgbClr val="1E2A44"/>
          </a:solidFill>
          <a:ln w="12700">
            <a:miter lim="400000"/>
          </a:ln>
        </p:spPr>
        <p:txBody>
          <a:bodyPr lIns="45719" rIns="45719"/>
          <a:lstStyle/>
          <a:p>
            <a:pPr/>
          </a:p>
        </p:txBody>
      </p:sp>
      <p:sp>
        <p:nvSpPr>
          <p:cNvPr id="60" name="Text 5"/>
          <p:cNvSpPr txBox="1"/>
          <p:nvPr/>
        </p:nvSpPr>
        <p:spPr>
          <a:xfrm>
            <a:off x="909217" y="2212975"/>
            <a:ext cx="210469"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ed Hat Mono SemiBold"/>
                <a:ea typeface="Red Hat Mono SemiBold"/>
                <a:cs typeface="Red Hat Mono SemiBold"/>
                <a:sym typeface="Red Hat Mono SemiBold"/>
              </a:defRPr>
            </a:lvl1pPr>
          </a:lstStyle>
          <a:p>
            <a:pPr/>
            <a:r>
              <a:t>01</a:t>
            </a:r>
          </a:p>
        </p:txBody>
      </p:sp>
      <p:sp>
        <p:nvSpPr>
          <p:cNvPr id="61" name="Shape 6"/>
          <p:cNvSpPr/>
          <p:nvPr/>
        </p:nvSpPr>
        <p:spPr>
          <a:xfrm>
            <a:off x="838178" y="2555875"/>
            <a:ext cx="2057350" cy="19050"/>
          </a:xfrm>
          <a:prstGeom prst="rect">
            <a:avLst/>
          </a:prstGeom>
          <a:solidFill>
            <a:srgbClr val="1E2A44"/>
          </a:solidFill>
          <a:ln w="12700">
            <a:miter lim="400000"/>
          </a:ln>
        </p:spPr>
        <p:txBody>
          <a:bodyPr lIns="45719" rIns="45719"/>
          <a:lstStyle/>
          <a:p>
            <a:pPr/>
          </a:p>
        </p:txBody>
      </p:sp>
      <p:sp>
        <p:nvSpPr>
          <p:cNvPr id="62" name="Text 7"/>
          <p:cNvSpPr txBox="1"/>
          <p:nvPr/>
        </p:nvSpPr>
        <p:spPr>
          <a:xfrm>
            <a:off x="838178" y="2689225"/>
            <a:ext cx="1000920"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Perceive</a:t>
            </a:r>
          </a:p>
        </p:txBody>
      </p:sp>
      <p:sp>
        <p:nvSpPr>
          <p:cNvPr id="63" name="Text 8"/>
          <p:cNvSpPr txBox="1"/>
          <p:nvPr/>
        </p:nvSpPr>
        <p:spPr>
          <a:xfrm>
            <a:off x="838178" y="3130550"/>
            <a:ext cx="1611767"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Goal, data, context</a:t>
            </a:r>
          </a:p>
        </p:txBody>
      </p:sp>
      <p:sp>
        <p:nvSpPr>
          <p:cNvPr id="64" name="Text 9"/>
          <p:cNvSpPr txBox="1"/>
          <p:nvPr/>
        </p:nvSpPr>
        <p:spPr>
          <a:xfrm>
            <a:off x="838178" y="3509326"/>
            <a:ext cx="1068711"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1E2A44"/>
                </a:solidFill>
                <a:latin typeface="Figtree"/>
                <a:ea typeface="Figtree"/>
                <a:cs typeface="Figtree"/>
                <a:sym typeface="Figtree"/>
              </a:defRPr>
            </a:lvl1pPr>
          </a:lstStyle>
          <a:p>
            <a:pPr/>
            <a:r>
              <a:t>Working picture</a:t>
            </a:r>
          </a:p>
        </p:txBody>
      </p:sp>
      <p:sp>
        <p:nvSpPr>
          <p:cNvPr id="65" name="Shape 10"/>
          <p:cNvSpPr/>
          <p:nvPr/>
        </p:nvSpPr>
        <p:spPr>
          <a:xfrm>
            <a:off x="3428913" y="1895475"/>
            <a:ext cx="2514538" cy="3994845"/>
          </a:xfrm>
          <a:prstGeom prst="roundRect">
            <a:avLst>
              <a:gd name="adj" fmla="val 8485"/>
            </a:avLst>
          </a:prstGeom>
          <a:solidFill>
            <a:srgbClr val="FFFFFF"/>
          </a:solidFill>
          <a:ln w="12700">
            <a:miter lim="400000"/>
          </a:ln>
        </p:spPr>
        <p:txBody>
          <a:bodyPr lIns="45719" rIns="45719"/>
          <a:lstStyle/>
          <a:p>
            <a:pPr/>
          </a:p>
        </p:txBody>
      </p:sp>
      <p:sp>
        <p:nvSpPr>
          <p:cNvPr id="66" name="Shape 11"/>
          <p:cNvSpPr/>
          <p:nvPr/>
        </p:nvSpPr>
        <p:spPr>
          <a:xfrm>
            <a:off x="3657508" y="2124075"/>
            <a:ext cx="355593" cy="355600"/>
          </a:xfrm>
          <a:prstGeom prst="ellipse">
            <a:avLst/>
          </a:prstGeom>
          <a:solidFill>
            <a:srgbClr val="1E2A44"/>
          </a:solidFill>
          <a:ln w="12700">
            <a:miter lim="400000"/>
          </a:ln>
        </p:spPr>
        <p:txBody>
          <a:bodyPr lIns="45719" rIns="45719"/>
          <a:lstStyle/>
          <a:p>
            <a:pPr/>
          </a:p>
        </p:txBody>
      </p:sp>
      <p:sp>
        <p:nvSpPr>
          <p:cNvPr id="67" name="Text 12"/>
          <p:cNvSpPr txBox="1"/>
          <p:nvPr/>
        </p:nvSpPr>
        <p:spPr>
          <a:xfrm>
            <a:off x="3728546" y="2212975"/>
            <a:ext cx="210469"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ed Hat Mono SemiBold"/>
                <a:ea typeface="Red Hat Mono SemiBold"/>
                <a:cs typeface="Red Hat Mono SemiBold"/>
                <a:sym typeface="Red Hat Mono SemiBold"/>
              </a:defRPr>
            </a:lvl1pPr>
          </a:lstStyle>
          <a:p>
            <a:pPr/>
            <a:r>
              <a:t>02</a:t>
            </a:r>
          </a:p>
        </p:txBody>
      </p:sp>
      <p:sp>
        <p:nvSpPr>
          <p:cNvPr id="68" name="Shape 13"/>
          <p:cNvSpPr/>
          <p:nvPr/>
        </p:nvSpPr>
        <p:spPr>
          <a:xfrm>
            <a:off x="3657508" y="2555875"/>
            <a:ext cx="2057350" cy="19050"/>
          </a:xfrm>
          <a:prstGeom prst="rect">
            <a:avLst/>
          </a:prstGeom>
          <a:solidFill>
            <a:srgbClr val="1E2A44"/>
          </a:solidFill>
          <a:ln w="12700">
            <a:miter lim="400000"/>
          </a:ln>
        </p:spPr>
        <p:txBody>
          <a:bodyPr lIns="45719" rIns="45719"/>
          <a:lstStyle/>
          <a:p>
            <a:pPr/>
          </a:p>
        </p:txBody>
      </p:sp>
      <p:sp>
        <p:nvSpPr>
          <p:cNvPr id="69" name="Text 14"/>
          <p:cNvSpPr txBox="1"/>
          <p:nvPr/>
        </p:nvSpPr>
        <p:spPr>
          <a:xfrm>
            <a:off x="3657508" y="2689225"/>
            <a:ext cx="888183"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Reason</a:t>
            </a:r>
          </a:p>
        </p:txBody>
      </p:sp>
      <p:sp>
        <p:nvSpPr>
          <p:cNvPr id="70" name="Text 15"/>
          <p:cNvSpPr txBox="1"/>
          <p:nvPr/>
        </p:nvSpPr>
        <p:spPr>
          <a:xfrm>
            <a:off x="3657508" y="3130550"/>
            <a:ext cx="2014068"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Options and constraints</a:t>
            </a:r>
          </a:p>
        </p:txBody>
      </p:sp>
      <p:sp>
        <p:nvSpPr>
          <p:cNvPr id="71" name="Text 16"/>
          <p:cNvSpPr txBox="1"/>
          <p:nvPr/>
        </p:nvSpPr>
        <p:spPr>
          <a:xfrm>
            <a:off x="3657508" y="3509326"/>
            <a:ext cx="656457"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1E2A44"/>
                </a:solidFill>
                <a:latin typeface="Figtree"/>
                <a:ea typeface="Figtree"/>
                <a:cs typeface="Figtree"/>
                <a:sym typeface="Figtree"/>
              </a:defRPr>
            </a:lvl1pPr>
          </a:lstStyle>
          <a:p>
            <a:pPr/>
            <a:r>
              <a:t>Next step</a:t>
            </a:r>
          </a:p>
        </p:txBody>
      </p:sp>
      <p:sp>
        <p:nvSpPr>
          <p:cNvPr id="72" name="Shape 17"/>
          <p:cNvSpPr/>
          <p:nvPr/>
        </p:nvSpPr>
        <p:spPr>
          <a:xfrm>
            <a:off x="6248243" y="1895475"/>
            <a:ext cx="2514538" cy="3994845"/>
          </a:xfrm>
          <a:prstGeom prst="roundRect">
            <a:avLst>
              <a:gd name="adj" fmla="val 8485"/>
            </a:avLst>
          </a:prstGeom>
          <a:solidFill>
            <a:srgbClr val="FFFFFF"/>
          </a:solidFill>
          <a:ln w="12700">
            <a:miter lim="400000"/>
          </a:ln>
        </p:spPr>
        <p:txBody>
          <a:bodyPr lIns="45719" rIns="45719"/>
          <a:lstStyle/>
          <a:p>
            <a:pPr/>
          </a:p>
        </p:txBody>
      </p:sp>
      <p:sp>
        <p:nvSpPr>
          <p:cNvPr id="73" name="Shape 18"/>
          <p:cNvSpPr/>
          <p:nvPr/>
        </p:nvSpPr>
        <p:spPr>
          <a:xfrm>
            <a:off x="6476837" y="2124075"/>
            <a:ext cx="355593" cy="355600"/>
          </a:xfrm>
          <a:prstGeom prst="ellipse">
            <a:avLst/>
          </a:prstGeom>
          <a:solidFill>
            <a:srgbClr val="1E2A44"/>
          </a:solidFill>
          <a:ln w="12700">
            <a:miter lim="400000"/>
          </a:ln>
        </p:spPr>
        <p:txBody>
          <a:bodyPr lIns="45719" rIns="45719"/>
          <a:lstStyle/>
          <a:p>
            <a:pPr/>
          </a:p>
        </p:txBody>
      </p:sp>
      <p:sp>
        <p:nvSpPr>
          <p:cNvPr id="74" name="Text 19"/>
          <p:cNvSpPr txBox="1"/>
          <p:nvPr/>
        </p:nvSpPr>
        <p:spPr>
          <a:xfrm>
            <a:off x="6547877" y="2212975"/>
            <a:ext cx="210468"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ed Hat Mono SemiBold"/>
                <a:ea typeface="Red Hat Mono SemiBold"/>
                <a:cs typeface="Red Hat Mono SemiBold"/>
                <a:sym typeface="Red Hat Mono SemiBold"/>
              </a:defRPr>
            </a:lvl1pPr>
          </a:lstStyle>
          <a:p>
            <a:pPr/>
            <a:r>
              <a:t>03</a:t>
            </a:r>
          </a:p>
        </p:txBody>
      </p:sp>
      <p:sp>
        <p:nvSpPr>
          <p:cNvPr id="75" name="Shape 20"/>
          <p:cNvSpPr/>
          <p:nvPr/>
        </p:nvSpPr>
        <p:spPr>
          <a:xfrm>
            <a:off x="6476837" y="2555875"/>
            <a:ext cx="2057351" cy="19050"/>
          </a:xfrm>
          <a:prstGeom prst="rect">
            <a:avLst/>
          </a:prstGeom>
          <a:solidFill>
            <a:srgbClr val="1E2A44"/>
          </a:solidFill>
          <a:ln w="12700">
            <a:miter lim="400000"/>
          </a:ln>
        </p:spPr>
        <p:txBody>
          <a:bodyPr lIns="45719" rIns="45719"/>
          <a:lstStyle/>
          <a:p>
            <a:pPr/>
          </a:p>
        </p:txBody>
      </p:sp>
      <p:sp>
        <p:nvSpPr>
          <p:cNvPr id="76" name="Text 21"/>
          <p:cNvSpPr txBox="1"/>
          <p:nvPr/>
        </p:nvSpPr>
        <p:spPr>
          <a:xfrm>
            <a:off x="6476837" y="2689225"/>
            <a:ext cx="379687"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Act</a:t>
            </a:r>
          </a:p>
        </p:txBody>
      </p:sp>
      <p:sp>
        <p:nvSpPr>
          <p:cNvPr id="77" name="Text 22"/>
          <p:cNvSpPr txBox="1"/>
          <p:nvPr/>
        </p:nvSpPr>
        <p:spPr>
          <a:xfrm>
            <a:off x="6476837" y="3130550"/>
            <a:ext cx="1272997"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Tools and APIs</a:t>
            </a:r>
          </a:p>
        </p:txBody>
      </p:sp>
      <p:sp>
        <p:nvSpPr>
          <p:cNvPr id="78" name="Text 23"/>
          <p:cNvSpPr txBox="1"/>
          <p:nvPr/>
        </p:nvSpPr>
        <p:spPr>
          <a:xfrm>
            <a:off x="6476837" y="3509326"/>
            <a:ext cx="1156074"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1E2A44"/>
                </a:solidFill>
                <a:latin typeface="Figtree"/>
                <a:ea typeface="Figtree"/>
                <a:cs typeface="Figtree"/>
                <a:sym typeface="Figtree"/>
              </a:defRPr>
            </a:lvl1pPr>
          </a:lstStyle>
          <a:p>
            <a:pPr/>
            <a:r>
              <a:t>Real-world result</a:t>
            </a:r>
          </a:p>
        </p:txBody>
      </p:sp>
      <p:sp>
        <p:nvSpPr>
          <p:cNvPr id="79" name="Shape 24"/>
          <p:cNvSpPr/>
          <p:nvPr/>
        </p:nvSpPr>
        <p:spPr>
          <a:xfrm>
            <a:off x="9067572" y="1895475"/>
            <a:ext cx="2514538" cy="3994845"/>
          </a:xfrm>
          <a:prstGeom prst="roundRect">
            <a:avLst>
              <a:gd name="adj" fmla="val 8485"/>
            </a:avLst>
          </a:prstGeom>
          <a:solidFill>
            <a:srgbClr val="FFFFFF"/>
          </a:solidFill>
          <a:ln w="12700">
            <a:miter lim="400000"/>
          </a:ln>
        </p:spPr>
        <p:txBody>
          <a:bodyPr lIns="45719" rIns="45719"/>
          <a:lstStyle/>
          <a:p>
            <a:pPr/>
          </a:p>
        </p:txBody>
      </p:sp>
      <p:sp>
        <p:nvSpPr>
          <p:cNvPr id="80" name="Shape 25"/>
          <p:cNvSpPr/>
          <p:nvPr/>
        </p:nvSpPr>
        <p:spPr>
          <a:xfrm>
            <a:off x="9296166" y="2124075"/>
            <a:ext cx="355593" cy="355600"/>
          </a:xfrm>
          <a:prstGeom prst="ellipse">
            <a:avLst/>
          </a:prstGeom>
          <a:solidFill>
            <a:srgbClr val="1E2A44"/>
          </a:solidFill>
          <a:ln w="12700">
            <a:miter lim="400000"/>
          </a:ln>
        </p:spPr>
        <p:txBody>
          <a:bodyPr lIns="45719" rIns="45719"/>
          <a:lstStyle/>
          <a:p>
            <a:pPr/>
          </a:p>
        </p:txBody>
      </p:sp>
      <p:sp>
        <p:nvSpPr>
          <p:cNvPr id="81" name="Text 26"/>
          <p:cNvSpPr txBox="1"/>
          <p:nvPr/>
        </p:nvSpPr>
        <p:spPr>
          <a:xfrm>
            <a:off x="9367205" y="2212975"/>
            <a:ext cx="210469" cy="2159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3000"/>
              </a:lnSpc>
              <a:defRPr sz="1400">
                <a:solidFill>
                  <a:srgbClr val="FFFFFF"/>
                </a:solidFill>
                <a:latin typeface="Red Hat Mono SemiBold"/>
                <a:ea typeface="Red Hat Mono SemiBold"/>
                <a:cs typeface="Red Hat Mono SemiBold"/>
                <a:sym typeface="Red Hat Mono SemiBold"/>
              </a:defRPr>
            </a:lvl1pPr>
          </a:lstStyle>
          <a:p>
            <a:pPr/>
            <a:r>
              <a:t>04</a:t>
            </a:r>
          </a:p>
        </p:txBody>
      </p:sp>
      <p:sp>
        <p:nvSpPr>
          <p:cNvPr id="82" name="Shape 27"/>
          <p:cNvSpPr/>
          <p:nvPr/>
        </p:nvSpPr>
        <p:spPr>
          <a:xfrm>
            <a:off x="9296166" y="2555875"/>
            <a:ext cx="2057350" cy="19050"/>
          </a:xfrm>
          <a:prstGeom prst="rect">
            <a:avLst/>
          </a:prstGeom>
          <a:solidFill>
            <a:srgbClr val="1E2A44"/>
          </a:solidFill>
          <a:ln w="12700">
            <a:miter lim="400000"/>
          </a:ln>
        </p:spPr>
        <p:txBody>
          <a:bodyPr lIns="45719" rIns="45719"/>
          <a:lstStyle/>
          <a:p>
            <a:pPr/>
          </a:p>
        </p:txBody>
      </p:sp>
      <p:sp>
        <p:nvSpPr>
          <p:cNvPr id="83" name="Text 28"/>
          <p:cNvSpPr txBox="1"/>
          <p:nvPr/>
        </p:nvSpPr>
        <p:spPr>
          <a:xfrm>
            <a:off x="9296166" y="2689225"/>
            <a:ext cx="662336"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Learn</a:t>
            </a:r>
          </a:p>
        </p:txBody>
      </p:sp>
      <p:sp>
        <p:nvSpPr>
          <p:cNvPr id="84" name="Text 29"/>
          <p:cNvSpPr txBox="1"/>
          <p:nvPr/>
        </p:nvSpPr>
        <p:spPr>
          <a:xfrm>
            <a:off x="9296166" y="3130550"/>
            <a:ext cx="2003649"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Feedback and outcome</a:t>
            </a:r>
          </a:p>
        </p:txBody>
      </p:sp>
      <p:sp>
        <p:nvSpPr>
          <p:cNvPr id="85" name="Text 30"/>
          <p:cNvSpPr txBox="1"/>
          <p:nvPr/>
        </p:nvSpPr>
        <p:spPr>
          <a:xfrm>
            <a:off x="9296166" y="3509326"/>
            <a:ext cx="1122587"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1E2A44"/>
                </a:solidFill>
                <a:latin typeface="Figtree"/>
                <a:ea typeface="Figtree"/>
                <a:cs typeface="Figtree"/>
                <a:sym typeface="Figtree"/>
              </a:defRPr>
            </a:lvl1pPr>
          </a:lstStyle>
          <a:p>
            <a:pPr/>
            <a:r>
              <a:t>Updated context</a:t>
            </a:r>
          </a:p>
        </p:txBody>
      </p:sp>
      <p:sp>
        <p:nvSpPr>
          <p:cNvPr id="86" name="Text 31"/>
          <p:cNvSpPr txBox="1"/>
          <p:nvPr/>
        </p:nvSpPr>
        <p:spPr>
          <a:xfrm>
            <a:off x="609584" y="6043672"/>
            <a:ext cx="4400899" cy="1934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4A5670"/>
                </a:solidFill>
                <a:latin typeface="Figtree"/>
                <a:ea typeface="Figtree"/>
                <a:cs typeface="Figtree"/>
                <a:sym typeface="Figtree"/>
              </a:defRPr>
            </a:lvl1pPr>
          </a:lstStyle>
          <a:p>
            <a:pPr/>
            <a:r>
              <a:t>The agent loop · Perceive → Reason → Act → Learn → continue</a:t>
            </a:r>
          </a:p>
        </p:txBody>
      </p:sp>
      <p:pic>
        <p:nvPicPr>
          <p:cNvPr id="87" name="pasted-movie.heic" descr="pasted-movie.heic"/>
          <p:cNvPicPr>
            <a:picLocks noChangeAspect="1"/>
          </p:cNvPicPr>
          <p:nvPr/>
        </p:nvPicPr>
        <p:blipFill>
          <a:blip r:embed="rId3">
            <a:extLst/>
          </a:blip>
          <a:stretch>
            <a:fillRect/>
          </a:stretch>
        </p:blipFill>
        <p:spPr>
          <a:xfrm>
            <a:off x="10934304" y="6487058"/>
            <a:ext cx="1356985" cy="39989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3000">
        <p:push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1" name="Image 0" descr="Image 0"/>
          <p:cNvPicPr>
            <a:picLocks noChangeAspect="1"/>
          </p:cNvPicPr>
          <p:nvPr/>
        </p:nvPicPr>
        <p:blipFill>
          <a:blip r:embed="rId3">
            <a:extLst/>
          </a:blip>
          <a:stretch>
            <a:fillRect/>
          </a:stretch>
        </p:blipFill>
        <p:spPr>
          <a:xfrm>
            <a:off x="0" y="0"/>
            <a:ext cx="3301918" cy="6858000"/>
          </a:xfrm>
          <a:prstGeom prst="rect">
            <a:avLst/>
          </a:prstGeom>
          <a:ln w="12700">
            <a:miter lim="400000"/>
          </a:ln>
        </p:spPr>
      </p:pic>
      <p:sp>
        <p:nvSpPr>
          <p:cNvPr id="92" name="Text 0"/>
          <p:cNvSpPr txBox="1"/>
          <p:nvPr/>
        </p:nvSpPr>
        <p:spPr>
          <a:xfrm>
            <a:off x="4267092" y="618331"/>
            <a:ext cx="957376"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04000"/>
              </a:lnSpc>
              <a:defRPr spc="66" sz="1100">
                <a:solidFill>
                  <a:srgbClr val="1E2A44"/>
                </a:solidFill>
                <a:latin typeface="Red Hat Mono Medium"/>
                <a:ea typeface="Red Hat Mono Medium"/>
                <a:cs typeface="Red Hat Mono Medium"/>
                <a:sym typeface="Red Hat Mono Medium"/>
              </a:defRPr>
            </a:lvl1pPr>
          </a:lstStyle>
          <a:p>
            <a:pPr/>
            <a:r>
              <a:t>GROUNDING</a:t>
            </a:r>
          </a:p>
        </p:txBody>
      </p:sp>
      <p:sp>
        <p:nvSpPr>
          <p:cNvPr id="93" name="Text 1"/>
          <p:cNvSpPr txBox="1"/>
          <p:nvPr/>
        </p:nvSpPr>
        <p:spPr>
          <a:xfrm>
            <a:off x="4267092" y="889000"/>
            <a:ext cx="7315019" cy="8001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88000"/>
              </a:lnSpc>
              <a:defRPr spc="-100" sz="3000">
                <a:solidFill>
                  <a:srgbClr val="1E2A44"/>
                </a:solidFill>
                <a:latin typeface="Urbanist ExtraBold"/>
                <a:ea typeface="Urbanist ExtraBold"/>
                <a:cs typeface="Urbanist ExtraBold"/>
                <a:sym typeface="Urbanist ExtraBold"/>
              </a:defRPr>
            </a:lvl1pPr>
          </a:lstStyle>
          <a:p>
            <a:pPr/>
            <a:r>
              <a:t>Good agents stay grounded in the real world</a:t>
            </a:r>
          </a:p>
        </p:txBody>
      </p:sp>
      <p:sp>
        <p:nvSpPr>
          <p:cNvPr id="94" name="Shape 2"/>
          <p:cNvSpPr/>
          <p:nvPr/>
        </p:nvSpPr>
        <p:spPr>
          <a:xfrm>
            <a:off x="4267093" y="1851025"/>
            <a:ext cx="3581311" cy="2193925"/>
          </a:xfrm>
          <a:prstGeom prst="roundRect">
            <a:avLst>
              <a:gd name="adj" fmla="val 9725"/>
            </a:avLst>
          </a:prstGeom>
          <a:solidFill>
            <a:srgbClr val="FFFFFF"/>
          </a:solidFill>
          <a:ln w="12700">
            <a:miter lim="400000"/>
          </a:ln>
        </p:spPr>
        <p:txBody>
          <a:bodyPr lIns="45719" rIns="45719"/>
          <a:lstStyle/>
          <a:p>
            <a:pPr/>
          </a:p>
        </p:txBody>
      </p:sp>
      <p:sp>
        <p:nvSpPr>
          <p:cNvPr id="95" name="Shape 3"/>
          <p:cNvSpPr/>
          <p:nvPr/>
        </p:nvSpPr>
        <p:spPr>
          <a:xfrm>
            <a:off x="4495688" y="2079625"/>
            <a:ext cx="584186" cy="584200"/>
          </a:xfrm>
          <a:prstGeom prst="ellipse">
            <a:avLst/>
          </a:prstGeom>
          <a:solidFill>
            <a:srgbClr val="1E2A44"/>
          </a:solidFill>
          <a:ln w="6350">
            <a:solidFill>
              <a:srgbClr val="37435D"/>
            </a:solidFill>
          </a:ln>
        </p:spPr>
        <p:txBody>
          <a:bodyPr lIns="45719" rIns="45719"/>
          <a:lstStyle/>
          <a:p>
            <a:pPr/>
          </a:p>
        </p:txBody>
      </p:sp>
      <p:pic>
        <p:nvPicPr>
          <p:cNvPr id="96" name="Image 1" descr="Image 1"/>
          <p:cNvPicPr>
            <a:picLocks noChangeAspect="1"/>
          </p:cNvPicPr>
          <p:nvPr/>
        </p:nvPicPr>
        <p:blipFill>
          <a:blip r:embed="rId4">
            <a:extLst/>
          </a:blip>
          <a:stretch>
            <a:fillRect/>
          </a:stretch>
        </p:blipFill>
        <p:spPr>
          <a:xfrm>
            <a:off x="4644909" y="2228850"/>
            <a:ext cx="285744" cy="285750"/>
          </a:xfrm>
          <a:prstGeom prst="rect">
            <a:avLst/>
          </a:prstGeom>
          <a:ln w="12700">
            <a:miter lim="400000"/>
          </a:ln>
        </p:spPr>
      </p:pic>
      <p:sp>
        <p:nvSpPr>
          <p:cNvPr id="97" name="Text 4"/>
          <p:cNvSpPr txBox="1"/>
          <p:nvPr/>
        </p:nvSpPr>
        <p:spPr>
          <a:xfrm>
            <a:off x="4495687" y="2774950"/>
            <a:ext cx="605657"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Tools</a:t>
            </a:r>
          </a:p>
        </p:txBody>
      </p:sp>
      <p:sp>
        <p:nvSpPr>
          <p:cNvPr id="98" name="Text 5"/>
          <p:cNvSpPr txBox="1"/>
          <p:nvPr/>
        </p:nvSpPr>
        <p:spPr>
          <a:xfrm>
            <a:off x="4495687" y="3216275"/>
            <a:ext cx="3124124"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999"/>
              </a:lnSpc>
              <a:defRPr sz="1500">
                <a:solidFill>
                  <a:srgbClr val="1E2A44"/>
                </a:solidFill>
                <a:latin typeface="Figtree"/>
                <a:ea typeface="Figtree"/>
                <a:cs typeface="Figtree"/>
                <a:sym typeface="Figtree"/>
              </a:defRPr>
            </a:lvl1pPr>
          </a:lstStyle>
          <a:p>
            <a:pPr/>
            <a:r>
              <a:t>Search, databases, code, and business systems.</a:t>
            </a:r>
          </a:p>
        </p:txBody>
      </p:sp>
      <p:sp>
        <p:nvSpPr>
          <p:cNvPr id="99" name="Shape 6"/>
          <p:cNvSpPr/>
          <p:nvPr/>
        </p:nvSpPr>
        <p:spPr>
          <a:xfrm>
            <a:off x="8000800" y="1851025"/>
            <a:ext cx="3581311" cy="2193925"/>
          </a:xfrm>
          <a:prstGeom prst="roundRect">
            <a:avLst>
              <a:gd name="adj" fmla="val 9725"/>
            </a:avLst>
          </a:prstGeom>
          <a:solidFill>
            <a:srgbClr val="FFFFFF"/>
          </a:solidFill>
          <a:ln w="12700">
            <a:miter lim="400000"/>
          </a:ln>
        </p:spPr>
        <p:txBody>
          <a:bodyPr lIns="45719" rIns="45719"/>
          <a:lstStyle/>
          <a:p>
            <a:pPr/>
          </a:p>
        </p:txBody>
      </p:sp>
      <p:sp>
        <p:nvSpPr>
          <p:cNvPr id="100" name="Shape 7"/>
          <p:cNvSpPr/>
          <p:nvPr/>
        </p:nvSpPr>
        <p:spPr>
          <a:xfrm>
            <a:off x="8229393" y="2079625"/>
            <a:ext cx="584187" cy="584200"/>
          </a:xfrm>
          <a:prstGeom prst="ellipse">
            <a:avLst/>
          </a:prstGeom>
          <a:solidFill>
            <a:srgbClr val="1E2A44"/>
          </a:solidFill>
          <a:ln w="6350">
            <a:solidFill>
              <a:srgbClr val="37435D"/>
            </a:solidFill>
          </a:ln>
        </p:spPr>
        <p:txBody>
          <a:bodyPr lIns="45719" rIns="45719"/>
          <a:lstStyle/>
          <a:p>
            <a:pPr/>
          </a:p>
        </p:txBody>
      </p:sp>
      <p:pic>
        <p:nvPicPr>
          <p:cNvPr id="101" name="Image 2" descr="Image 2"/>
          <p:cNvPicPr>
            <a:picLocks noChangeAspect="1"/>
          </p:cNvPicPr>
          <p:nvPr/>
        </p:nvPicPr>
        <p:blipFill>
          <a:blip r:embed="rId5">
            <a:extLst/>
          </a:blip>
          <a:stretch>
            <a:fillRect/>
          </a:stretch>
        </p:blipFill>
        <p:spPr>
          <a:xfrm>
            <a:off x="8378614" y="2228850"/>
            <a:ext cx="285744" cy="285750"/>
          </a:xfrm>
          <a:prstGeom prst="rect">
            <a:avLst/>
          </a:prstGeom>
          <a:ln w="12700">
            <a:miter lim="400000"/>
          </a:ln>
        </p:spPr>
      </p:pic>
      <p:sp>
        <p:nvSpPr>
          <p:cNvPr id="102" name="Text 8"/>
          <p:cNvSpPr txBox="1"/>
          <p:nvPr/>
        </p:nvSpPr>
        <p:spPr>
          <a:xfrm>
            <a:off x="8229393" y="2774950"/>
            <a:ext cx="1184351"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Guardrails</a:t>
            </a:r>
          </a:p>
        </p:txBody>
      </p:sp>
      <p:sp>
        <p:nvSpPr>
          <p:cNvPr id="103" name="Text 9"/>
          <p:cNvSpPr txBox="1"/>
          <p:nvPr/>
        </p:nvSpPr>
        <p:spPr>
          <a:xfrm>
            <a:off x="8229393" y="3216275"/>
            <a:ext cx="3124123"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999"/>
              </a:lnSpc>
              <a:defRPr sz="1500">
                <a:solidFill>
                  <a:srgbClr val="1E2A44"/>
                </a:solidFill>
                <a:latin typeface="Figtree"/>
                <a:ea typeface="Figtree"/>
                <a:cs typeface="Figtree"/>
                <a:sym typeface="Figtree"/>
              </a:defRPr>
            </a:lvl1pPr>
          </a:lstStyle>
          <a:p>
            <a:pPr/>
            <a:r>
              <a:t>Permissions, approvals, and safe operating limits.</a:t>
            </a:r>
          </a:p>
        </p:txBody>
      </p:sp>
      <p:sp>
        <p:nvSpPr>
          <p:cNvPr id="104" name="Shape 10"/>
          <p:cNvSpPr/>
          <p:nvPr/>
        </p:nvSpPr>
        <p:spPr>
          <a:xfrm>
            <a:off x="4267093" y="4197350"/>
            <a:ext cx="3581311" cy="2193925"/>
          </a:xfrm>
          <a:prstGeom prst="roundRect">
            <a:avLst>
              <a:gd name="adj" fmla="val 9725"/>
            </a:avLst>
          </a:prstGeom>
          <a:solidFill>
            <a:srgbClr val="FFFFFF"/>
          </a:solidFill>
          <a:ln w="12700">
            <a:miter lim="400000"/>
          </a:ln>
        </p:spPr>
        <p:txBody>
          <a:bodyPr lIns="45719" rIns="45719"/>
          <a:lstStyle/>
          <a:p>
            <a:pPr/>
          </a:p>
        </p:txBody>
      </p:sp>
      <p:sp>
        <p:nvSpPr>
          <p:cNvPr id="105" name="Shape 11"/>
          <p:cNvSpPr/>
          <p:nvPr/>
        </p:nvSpPr>
        <p:spPr>
          <a:xfrm>
            <a:off x="4495687" y="4425949"/>
            <a:ext cx="650862" cy="650878"/>
          </a:xfrm>
          <a:prstGeom prst="ellipse">
            <a:avLst/>
          </a:prstGeom>
          <a:solidFill>
            <a:srgbClr val="1E2A44"/>
          </a:solidFill>
          <a:ln w="6350">
            <a:solidFill>
              <a:srgbClr val="37435D"/>
            </a:solidFill>
          </a:ln>
        </p:spPr>
        <p:txBody>
          <a:bodyPr lIns="45719" rIns="45719"/>
          <a:lstStyle/>
          <a:p>
            <a:pPr/>
          </a:p>
        </p:txBody>
      </p:sp>
      <p:pic>
        <p:nvPicPr>
          <p:cNvPr id="106" name="Image 3" descr="Image 3"/>
          <p:cNvPicPr>
            <a:picLocks noChangeAspect="1"/>
          </p:cNvPicPr>
          <p:nvPr/>
        </p:nvPicPr>
        <p:blipFill>
          <a:blip r:embed="rId6">
            <a:extLst/>
          </a:blip>
          <a:stretch>
            <a:fillRect/>
          </a:stretch>
        </p:blipFill>
        <p:spPr>
          <a:xfrm>
            <a:off x="4644909" y="4608512"/>
            <a:ext cx="285744" cy="285751"/>
          </a:xfrm>
          <a:prstGeom prst="rect">
            <a:avLst/>
          </a:prstGeom>
          <a:ln w="12700">
            <a:miter lim="400000"/>
          </a:ln>
        </p:spPr>
      </p:pic>
      <p:sp>
        <p:nvSpPr>
          <p:cNvPr id="107" name="Text 12"/>
          <p:cNvSpPr txBox="1"/>
          <p:nvPr/>
        </p:nvSpPr>
        <p:spPr>
          <a:xfrm>
            <a:off x="4495687" y="5187950"/>
            <a:ext cx="929979"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Memory</a:t>
            </a:r>
          </a:p>
        </p:txBody>
      </p:sp>
      <p:sp>
        <p:nvSpPr>
          <p:cNvPr id="108" name="Text 13"/>
          <p:cNvSpPr txBox="1"/>
          <p:nvPr/>
        </p:nvSpPr>
        <p:spPr>
          <a:xfrm>
            <a:off x="4495687" y="5629275"/>
            <a:ext cx="3124124"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999"/>
              </a:lnSpc>
              <a:defRPr sz="1500">
                <a:solidFill>
                  <a:srgbClr val="1E2A44"/>
                </a:solidFill>
                <a:latin typeface="Figtree"/>
                <a:ea typeface="Figtree"/>
                <a:cs typeface="Figtree"/>
                <a:sym typeface="Figtree"/>
              </a:defRPr>
            </a:lvl1pPr>
          </a:lstStyle>
          <a:p>
            <a:pPr/>
            <a:r>
              <a:t>Context, history, and prior interactions.</a:t>
            </a:r>
          </a:p>
        </p:txBody>
      </p:sp>
      <p:sp>
        <p:nvSpPr>
          <p:cNvPr id="109" name="Shape 14"/>
          <p:cNvSpPr/>
          <p:nvPr/>
        </p:nvSpPr>
        <p:spPr>
          <a:xfrm>
            <a:off x="8000800" y="4197350"/>
            <a:ext cx="3581311" cy="2193925"/>
          </a:xfrm>
          <a:prstGeom prst="roundRect">
            <a:avLst>
              <a:gd name="adj" fmla="val 9725"/>
            </a:avLst>
          </a:prstGeom>
          <a:solidFill>
            <a:srgbClr val="FFFFFF"/>
          </a:solidFill>
          <a:ln w="12700">
            <a:miter lim="400000"/>
          </a:ln>
        </p:spPr>
        <p:txBody>
          <a:bodyPr lIns="45719" rIns="45719"/>
          <a:lstStyle/>
          <a:p>
            <a:pPr/>
          </a:p>
        </p:txBody>
      </p:sp>
      <p:sp>
        <p:nvSpPr>
          <p:cNvPr id="110" name="Shape 15"/>
          <p:cNvSpPr/>
          <p:nvPr/>
        </p:nvSpPr>
        <p:spPr>
          <a:xfrm>
            <a:off x="8229393" y="4425949"/>
            <a:ext cx="650861" cy="650878"/>
          </a:xfrm>
          <a:prstGeom prst="ellipse">
            <a:avLst/>
          </a:prstGeom>
          <a:solidFill>
            <a:srgbClr val="1E2A44"/>
          </a:solidFill>
          <a:ln w="6350">
            <a:solidFill>
              <a:srgbClr val="37435D"/>
            </a:solidFill>
          </a:ln>
        </p:spPr>
        <p:txBody>
          <a:bodyPr lIns="45719" rIns="45719"/>
          <a:lstStyle/>
          <a:p>
            <a:pPr/>
          </a:p>
        </p:txBody>
      </p:sp>
      <p:pic>
        <p:nvPicPr>
          <p:cNvPr id="111" name="Image 4" descr="Image 4"/>
          <p:cNvPicPr>
            <a:picLocks noChangeAspect="1"/>
          </p:cNvPicPr>
          <p:nvPr/>
        </p:nvPicPr>
        <p:blipFill>
          <a:blip r:embed="rId7">
            <a:extLst/>
          </a:blip>
          <a:stretch>
            <a:fillRect/>
          </a:stretch>
        </p:blipFill>
        <p:spPr>
          <a:xfrm>
            <a:off x="8378614" y="4608512"/>
            <a:ext cx="285744" cy="285751"/>
          </a:xfrm>
          <a:prstGeom prst="rect">
            <a:avLst/>
          </a:prstGeom>
          <a:ln w="12700">
            <a:miter lim="400000"/>
          </a:ln>
        </p:spPr>
      </p:pic>
      <p:sp>
        <p:nvSpPr>
          <p:cNvPr id="112" name="Text 16"/>
          <p:cNvSpPr txBox="1"/>
          <p:nvPr/>
        </p:nvSpPr>
        <p:spPr>
          <a:xfrm>
            <a:off x="8229393" y="5187950"/>
            <a:ext cx="1932708" cy="3048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2000">
                <a:solidFill>
                  <a:srgbClr val="1E2A44"/>
                </a:solidFill>
                <a:latin typeface="Urbanist SemiBold"/>
                <a:ea typeface="Urbanist SemiBold"/>
                <a:cs typeface="Urbanist SemiBold"/>
                <a:sym typeface="Urbanist SemiBold"/>
              </a:defRPr>
            </a:lvl1pPr>
          </a:lstStyle>
          <a:p>
            <a:pPr/>
            <a:r>
              <a:t>Human oversight</a:t>
            </a:r>
          </a:p>
        </p:txBody>
      </p:sp>
      <p:sp>
        <p:nvSpPr>
          <p:cNvPr id="113" name="Text 17"/>
          <p:cNvSpPr txBox="1"/>
          <p:nvPr/>
        </p:nvSpPr>
        <p:spPr>
          <a:xfrm>
            <a:off x="8229393" y="5629275"/>
            <a:ext cx="3124123" cy="5334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6999"/>
              </a:lnSpc>
              <a:defRPr sz="1500">
                <a:solidFill>
                  <a:srgbClr val="1E2A44"/>
                </a:solidFill>
                <a:latin typeface="Figtree"/>
                <a:ea typeface="Figtree"/>
                <a:cs typeface="Figtree"/>
                <a:sym typeface="Figtree"/>
              </a:defRPr>
            </a:lvl1pPr>
          </a:lstStyle>
          <a:p>
            <a:pPr/>
            <a:r>
              <a:t>People review high-stakes decisions and exceptions.</a:t>
            </a:r>
          </a:p>
        </p:txBody>
      </p:sp>
      <p:pic>
        <p:nvPicPr>
          <p:cNvPr id="114" name="pasted-movie.heic" descr="pasted-movie.heic"/>
          <p:cNvPicPr>
            <a:picLocks noChangeAspect="1"/>
          </p:cNvPicPr>
          <p:nvPr/>
        </p:nvPicPr>
        <p:blipFill>
          <a:blip r:embed="rId8">
            <a:extLst/>
          </a:blip>
          <a:stretch>
            <a:fillRect/>
          </a:stretch>
        </p:blipFill>
        <p:spPr>
          <a:xfrm>
            <a:off x="10801530" y="6483806"/>
            <a:ext cx="1379055" cy="40640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fast" advClick="1" p14:dur="750">
        <p:wipe dir="r"/>
      </p:transition>
    </mc:Choice>
    <mc:Fallback>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09584" y="618331"/>
            <a:ext cx="1542441" cy="1651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04000"/>
              </a:lnSpc>
              <a:defRPr spc="66" sz="1100">
                <a:solidFill>
                  <a:srgbClr val="1E2A44"/>
                </a:solidFill>
                <a:latin typeface="Red Hat Mono Medium"/>
                <a:ea typeface="Red Hat Mono Medium"/>
                <a:cs typeface="Red Hat Mono Medium"/>
                <a:sym typeface="Red Hat Mono Medium"/>
              </a:defRPr>
            </a:lvl1pPr>
          </a:lstStyle>
          <a:p>
            <a:pPr/>
            <a:r>
              <a:t>A PRACTICAL START</a:t>
            </a:r>
          </a:p>
        </p:txBody>
      </p:sp>
      <p:sp>
        <p:nvSpPr>
          <p:cNvPr id="119" name="Text 1"/>
          <p:cNvSpPr txBox="1"/>
          <p:nvPr/>
        </p:nvSpPr>
        <p:spPr>
          <a:xfrm>
            <a:off x="609584" y="889000"/>
            <a:ext cx="4823980" cy="4572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88000"/>
              </a:lnSpc>
              <a:defRPr spc="-60" sz="3000">
                <a:solidFill>
                  <a:srgbClr val="1E2A44"/>
                </a:solidFill>
                <a:latin typeface="Urbanist ExtraBold"/>
                <a:ea typeface="Urbanist ExtraBold"/>
                <a:cs typeface="Urbanist ExtraBold"/>
                <a:sym typeface="Urbanist ExtraBold"/>
              </a:defRPr>
            </a:lvl1pPr>
          </a:lstStyle>
          <a:p>
            <a:pPr/>
            <a:r>
              <a:t>Start with one useful workflow</a:t>
            </a:r>
          </a:p>
        </p:txBody>
      </p:sp>
      <p:sp>
        <p:nvSpPr>
          <p:cNvPr id="120" name="Text 2"/>
          <p:cNvSpPr txBox="1"/>
          <p:nvPr/>
        </p:nvSpPr>
        <p:spPr>
          <a:xfrm>
            <a:off x="609584" y="1450975"/>
            <a:ext cx="4290487" cy="22860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Earn more autonomy by proving one outcome first.</a:t>
            </a:r>
          </a:p>
        </p:txBody>
      </p:sp>
      <p:pic>
        <p:nvPicPr>
          <p:cNvPr id="121" name="Image 0" descr="Image 0"/>
          <p:cNvPicPr>
            <a:picLocks noChangeAspect="1"/>
          </p:cNvPicPr>
          <p:nvPr/>
        </p:nvPicPr>
        <p:blipFill>
          <a:blip r:embed="rId3">
            <a:extLst/>
          </a:blip>
          <a:stretch>
            <a:fillRect/>
          </a:stretch>
        </p:blipFill>
        <p:spPr>
          <a:xfrm>
            <a:off x="609584" y="1844675"/>
            <a:ext cx="476239" cy="476250"/>
          </a:xfrm>
          <a:prstGeom prst="rect">
            <a:avLst/>
          </a:prstGeom>
          <a:ln w="12700">
            <a:miter lim="400000"/>
          </a:ln>
        </p:spPr>
      </p:pic>
      <p:sp>
        <p:nvSpPr>
          <p:cNvPr id="122" name="Text 3"/>
          <p:cNvSpPr txBox="1"/>
          <p:nvPr/>
        </p:nvSpPr>
        <p:spPr>
          <a:xfrm>
            <a:off x="609584" y="2502853"/>
            <a:ext cx="713087"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600">
                <a:solidFill>
                  <a:srgbClr val="1E2A44"/>
                </a:solidFill>
                <a:latin typeface="Figtree SemiBold"/>
                <a:ea typeface="Figtree SemiBold"/>
                <a:cs typeface="Figtree SemiBold"/>
                <a:sym typeface="Figtree SemiBold"/>
              </a:defRPr>
            </a:lvl1pPr>
          </a:lstStyle>
          <a:p>
            <a:pPr/>
            <a:r>
              <a:t>Choose</a:t>
            </a:r>
          </a:p>
        </p:txBody>
      </p:sp>
      <p:sp>
        <p:nvSpPr>
          <p:cNvPr id="123" name="Text 4"/>
          <p:cNvSpPr txBox="1"/>
          <p:nvPr/>
        </p:nvSpPr>
        <p:spPr>
          <a:xfrm>
            <a:off x="609584" y="2872680"/>
            <a:ext cx="3909301"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Choose a repetitive task with a clear outcome.</a:t>
            </a:r>
          </a:p>
        </p:txBody>
      </p:sp>
      <p:pic>
        <p:nvPicPr>
          <p:cNvPr id="124" name="Image 1" descr="Image 1"/>
          <p:cNvPicPr>
            <a:picLocks noChangeAspect="1"/>
          </p:cNvPicPr>
          <p:nvPr/>
        </p:nvPicPr>
        <p:blipFill>
          <a:blip r:embed="rId4">
            <a:extLst/>
          </a:blip>
          <a:stretch>
            <a:fillRect/>
          </a:stretch>
        </p:blipFill>
        <p:spPr>
          <a:xfrm>
            <a:off x="6324441" y="1844675"/>
            <a:ext cx="476239" cy="476250"/>
          </a:xfrm>
          <a:prstGeom prst="rect">
            <a:avLst/>
          </a:prstGeom>
          <a:ln w="12700">
            <a:miter lim="400000"/>
          </a:ln>
        </p:spPr>
      </p:pic>
      <p:sp>
        <p:nvSpPr>
          <p:cNvPr id="125" name="Text 5"/>
          <p:cNvSpPr txBox="1"/>
          <p:nvPr/>
        </p:nvSpPr>
        <p:spPr>
          <a:xfrm>
            <a:off x="6324441" y="2502853"/>
            <a:ext cx="441723"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600">
                <a:solidFill>
                  <a:srgbClr val="1E2A44"/>
                </a:solidFill>
                <a:latin typeface="Figtree SemiBold"/>
                <a:ea typeface="Figtree SemiBold"/>
                <a:cs typeface="Figtree SemiBold"/>
                <a:sym typeface="Figtree SemiBold"/>
              </a:defRPr>
            </a:lvl1pPr>
          </a:lstStyle>
          <a:p>
            <a:pPr/>
            <a:r>
              <a:t>Limit</a:t>
            </a:r>
          </a:p>
        </p:txBody>
      </p:sp>
      <p:sp>
        <p:nvSpPr>
          <p:cNvPr id="126" name="Text 6"/>
          <p:cNvSpPr txBox="1"/>
          <p:nvPr/>
        </p:nvSpPr>
        <p:spPr>
          <a:xfrm>
            <a:off x="6324441" y="2872680"/>
            <a:ext cx="4057943"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Give the agent access to only the tools it needs.</a:t>
            </a:r>
          </a:p>
        </p:txBody>
      </p:sp>
      <p:pic>
        <p:nvPicPr>
          <p:cNvPr id="127" name="Image 2" descr="Image 2"/>
          <p:cNvPicPr>
            <a:picLocks noChangeAspect="1"/>
          </p:cNvPicPr>
          <p:nvPr/>
        </p:nvPicPr>
        <p:blipFill>
          <a:blip r:embed="rId5">
            <a:extLst/>
          </a:blip>
          <a:stretch>
            <a:fillRect/>
          </a:stretch>
        </p:blipFill>
        <p:spPr>
          <a:xfrm>
            <a:off x="609584" y="3596580"/>
            <a:ext cx="476239" cy="476251"/>
          </a:xfrm>
          <a:prstGeom prst="rect">
            <a:avLst/>
          </a:prstGeom>
          <a:ln w="12700">
            <a:miter lim="400000"/>
          </a:ln>
        </p:spPr>
      </p:pic>
      <p:sp>
        <p:nvSpPr>
          <p:cNvPr id="128" name="Text 7"/>
          <p:cNvSpPr txBox="1"/>
          <p:nvPr/>
        </p:nvSpPr>
        <p:spPr>
          <a:xfrm>
            <a:off x="609584" y="4254758"/>
            <a:ext cx="803276"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600">
                <a:solidFill>
                  <a:srgbClr val="1E2A44"/>
                </a:solidFill>
                <a:latin typeface="Figtree SemiBold"/>
                <a:ea typeface="Figtree SemiBold"/>
                <a:cs typeface="Figtree SemiBold"/>
                <a:sym typeface="Figtree SemiBold"/>
              </a:defRPr>
            </a:lvl1pPr>
          </a:lstStyle>
          <a:p>
            <a:pPr/>
            <a:r>
              <a:t>Measure</a:t>
            </a:r>
          </a:p>
        </p:txBody>
      </p:sp>
      <p:sp>
        <p:nvSpPr>
          <p:cNvPr id="129" name="Text 8"/>
          <p:cNvSpPr txBox="1"/>
          <p:nvPr/>
        </p:nvSpPr>
        <p:spPr>
          <a:xfrm>
            <a:off x="609584" y="4624585"/>
            <a:ext cx="3503744"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Measure quality, speed, and human trust.</a:t>
            </a:r>
          </a:p>
        </p:txBody>
      </p:sp>
      <p:pic>
        <p:nvPicPr>
          <p:cNvPr id="130" name="Image 3" descr="Image 3"/>
          <p:cNvPicPr>
            <a:picLocks noChangeAspect="1"/>
          </p:cNvPicPr>
          <p:nvPr/>
        </p:nvPicPr>
        <p:blipFill>
          <a:blip r:embed="rId6">
            <a:extLst/>
          </a:blip>
          <a:stretch>
            <a:fillRect/>
          </a:stretch>
        </p:blipFill>
        <p:spPr>
          <a:xfrm>
            <a:off x="6324441" y="3596580"/>
            <a:ext cx="476239" cy="476251"/>
          </a:xfrm>
          <a:prstGeom prst="rect">
            <a:avLst/>
          </a:prstGeom>
          <a:ln w="12700">
            <a:miter lim="400000"/>
          </a:ln>
        </p:spPr>
      </p:pic>
      <p:sp>
        <p:nvSpPr>
          <p:cNvPr id="131" name="Text 9"/>
          <p:cNvSpPr txBox="1"/>
          <p:nvPr/>
        </p:nvSpPr>
        <p:spPr>
          <a:xfrm>
            <a:off x="6324441" y="4254758"/>
            <a:ext cx="701875" cy="241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defRPr sz="1600">
                <a:solidFill>
                  <a:srgbClr val="1E2A44"/>
                </a:solidFill>
                <a:latin typeface="Figtree SemiBold"/>
                <a:ea typeface="Figtree SemiBold"/>
                <a:cs typeface="Figtree SemiBold"/>
                <a:sym typeface="Figtree SemiBold"/>
              </a:defRPr>
            </a:lvl1pPr>
          </a:lstStyle>
          <a:p>
            <a:pPr/>
            <a:r>
              <a:t>Expand</a:t>
            </a:r>
          </a:p>
        </p:txBody>
      </p:sp>
      <p:sp>
        <p:nvSpPr>
          <p:cNvPr id="132" name="Text 10"/>
          <p:cNvSpPr txBox="1"/>
          <p:nvPr/>
        </p:nvSpPr>
        <p:spPr>
          <a:xfrm>
            <a:off x="6324441" y="4624585"/>
            <a:ext cx="4439129" cy="2286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6999"/>
              </a:lnSpc>
              <a:defRPr sz="1500">
                <a:solidFill>
                  <a:srgbClr val="1E2A44"/>
                </a:solidFill>
                <a:latin typeface="Figtree"/>
                <a:ea typeface="Figtree"/>
                <a:cs typeface="Figtree"/>
                <a:sym typeface="Figtree"/>
              </a:defRPr>
            </a:lvl1pPr>
          </a:lstStyle>
          <a:p>
            <a:pPr/>
            <a:r>
              <a:t>Expand autonomy only when the results are reliable.</a:t>
            </a:r>
          </a:p>
        </p:txBody>
      </p:sp>
      <p:pic>
        <p:nvPicPr>
          <p:cNvPr id="133" name="Image 4" descr="Image 4"/>
          <p:cNvPicPr>
            <a:picLocks noChangeAspect="1"/>
          </p:cNvPicPr>
          <p:nvPr/>
        </p:nvPicPr>
        <p:blipFill>
          <a:blip r:embed="rId7">
            <a:extLst/>
          </a:blip>
          <a:stretch>
            <a:fillRect/>
          </a:stretch>
        </p:blipFill>
        <p:spPr>
          <a:xfrm>
            <a:off x="609584" y="5069085"/>
            <a:ext cx="10972528" cy="123826"/>
          </a:xfrm>
          <a:prstGeom prst="rect">
            <a:avLst/>
          </a:prstGeom>
          <a:ln w="12700">
            <a:miter lim="400000"/>
          </a:ln>
        </p:spPr>
      </p:pic>
      <p:sp>
        <p:nvSpPr>
          <p:cNvPr id="134" name="Text 11"/>
          <p:cNvSpPr txBox="1"/>
          <p:nvPr/>
        </p:nvSpPr>
        <p:spPr>
          <a:xfrm>
            <a:off x="609584" y="5365312"/>
            <a:ext cx="3469458"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ct val="113000"/>
              </a:lnSpc>
              <a:defRPr sz="1200">
                <a:solidFill>
                  <a:srgbClr val="4A5670"/>
                </a:solidFill>
                <a:latin typeface="Figtree"/>
                <a:ea typeface="Figtree"/>
                <a:cs typeface="Figtree"/>
                <a:sym typeface="Figtree"/>
              </a:defRPr>
            </a:lvl1pPr>
          </a:lstStyle>
          <a:p>
            <a:pPr/>
            <a:r>
              <a:t>One reliable loop is the foundation for the next one.</a:t>
            </a:r>
          </a:p>
        </p:txBody>
      </p:sp>
      <p:sp>
        <p:nvSpPr>
          <p:cNvPr id="135" name="Shape 12"/>
          <p:cNvSpPr/>
          <p:nvPr/>
        </p:nvSpPr>
        <p:spPr>
          <a:xfrm>
            <a:off x="6089498" y="1844675"/>
            <a:ext cx="12701" cy="1523305"/>
          </a:xfrm>
          <a:prstGeom prst="rect">
            <a:avLst/>
          </a:prstGeom>
          <a:solidFill>
            <a:srgbClr val="C6DBF1"/>
          </a:solidFill>
          <a:ln w="12700">
            <a:miter lim="400000"/>
          </a:ln>
        </p:spPr>
        <p:txBody>
          <a:bodyPr lIns="45719" rIns="45719"/>
          <a:lstStyle/>
          <a:p>
            <a:pPr/>
          </a:p>
        </p:txBody>
      </p:sp>
      <p:sp>
        <p:nvSpPr>
          <p:cNvPr id="136" name="Shape 13"/>
          <p:cNvSpPr/>
          <p:nvPr/>
        </p:nvSpPr>
        <p:spPr>
          <a:xfrm>
            <a:off x="609584" y="3361630"/>
            <a:ext cx="5486265" cy="12701"/>
          </a:xfrm>
          <a:prstGeom prst="rect">
            <a:avLst/>
          </a:prstGeom>
          <a:solidFill>
            <a:srgbClr val="C6DBF1"/>
          </a:solidFill>
          <a:ln w="12700">
            <a:miter lim="400000"/>
          </a:ln>
        </p:spPr>
        <p:txBody>
          <a:bodyPr lIns="45719" rIns="45719"/>
          <a:lstStyle/>
          <a:p>
            <a:pPr/>
          </a:p>
        </p:txBody>
      </p:sp>
      <p:sp>
        <p:nvSpPr>
          <p:cNvPr id="137" name="Shape 14"/>
          <p:cNvSpPr/>
          <p:nvPr/>
        </p:nvSpPr>
        <p:spPr>
          <a:xfrm>
            <a:off x="6089498" y="3367980"/>
            <a:ext cx="12701" cy="1523306"/>
          </a:xfrm>
          <a:prstGeom prst="rect">
            <a:avLst/>
          </a:prstGeom>
          <a:solidFill>
            <a:srgbClr val="C6DBF1"/>
          </a:solidFill>
          <a:ln w="12700">
            <a:miter lim="400000"/>
          </a:ln>
        </p:spPr>
        <p:txBody>
          <a:bodyPr lIns="45719" rIns="45719"/>
          <a:lstStyle/>
          <a:p>
            <a:pPr/>
          </a:p>
        </p:txBody>
      </p:sp>
      <p:sp>
        <p:nvSpPr>
          <p:cNvPr id="138" name="Shape 15"/>
          <p:cNvSpPr/>
          <p:nvPr/>
        </p:nvSpPr>
        <p:spPr>
          <a:xfrm>
            <a:off x="6095847" y="3361630"/>
            <a:ext cx="5486265" cy="12701"/>
          </a:xfrm>
          <a:prstGeom prst="rect">
            <a:avLst/>
          </a:prstGeom>
          <a:solidFill>
            <a:srgbClr val="C6DBF1"/>
          </a:solidFill>
          <a:ln w="12700">
            <a:miter lim="400000"/>
          </a:ln>
        </p:spPr>
        <p:txBody>
          <a:bodyPr lIns="45719" rIns="45719"/>
          <a:lstStyle/>
          <a:p>
            <a:pPr/>
          </a:p>
        </p:txBody>
      </p:sp>
      <p:pic>
        <p:nvPicPr>
          <p:cNvPr id="139" name="pasted-movie.heic" descr="pasted-movie.heic"/>
          <p:cNvPicPr>
            <a:picLocks noChangeAspect="1"/>
          </p:cNvPicPr>
          <p:nvPr/>
        </p:nvPicPr>
        <p:blipFill>
          <a:blip r:embed="rId8">
            <a:extLst/>
          </a:blip>
          <a:stretch>
            <a:fillRect/>
          </a:stretch>
        </p:blipFill>
        <p:spPr>
          <a:xfrm>
            <a:off x="10349221" y="6189166"/>
            <a:ext cx="2021858" cy="59583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5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E9F4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